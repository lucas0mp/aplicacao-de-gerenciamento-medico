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ublic Sans" charset="1" panose="00000000000000000000"/>
      <p:regular r:id="rId13"/>
    </p:embeddedFont>
    <p:embeddedFont>
      <p:font typeface="Agrandir Bold" charset="1" panose="00000800000000000000"/>
      <p:regular r:id="rId14"/>
    </p:embeddedFont>
    <p:embeddedFont>
      <p:font typeface="Agrandir Medium" charset="1" panose="00000600000000000000"/>
      <p:regular r:id="rId15"/>
    </p:embeddedFont>
    <p:embeddedFont>
      <p:font typeface="Agrandir" charset="1" panose="00000500000000000000"/>
      <p:regular r:id="rId16"/>
    </p:embeddedFont>
    <p:embeddedFont>
      <p:font typeface="Public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02221"/>
            <a:ext cx="8841904" cy="9682557"/>
            <a:chOff x="0" y="0"/>
            <a:chExt cx="2328732" cy="255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8732" cy="2550139"/>
            </a:xfrm>
            <a:custGeom>
              <a:avLst/>
              <a:gdLst/>
              <a:ahLst/>
              <a:cxnLst/>
              <a:rect r="r" b="b" t="t" l="l"/>
              <a:pathLst>
                <a:path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59783" y="2041700"/>
            <a:ext cx="6810338" cy="6203599"/>
          </a:xfrm>
          <a:custGeom>
            <a:avLst/>
            <a:gdLst/>
            <a:ahLst/>
            <a:cxnLst/>
            <a:rect r="r" b="b" t="t" l="l"/>
            <a:pathLst>
              <a:path h="6203599" w="6810338">
                <a:moveTo>
                  <a:pt x="0" y="0"/>
                </a:moveTo>
                <a:lnTo>
                  <a:pt x="6810338" y="0"/>
                </a:lnTo>
                <a:lnTo>
                  <a:pt x="6810338" y="6203600"/>
                </a:lnTo>
                <a:lnTo>
                  <a:pt x="0" y="620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728006" cy="772980"/>
          </a:xfrm>
          <a:custGeom>
            <a:avLst/>
            <a:gdLst/>
            <a:ahLst/>
            <a:cxnLst/>
            <a:rect r="r" b="b" t="t" l="l"/>
            <a:pathLst>
              <a:path h="772980" w="728006">
                <a:moveTo>
                  <a:pt x="0" y="0"/>
                </a:moveTo>
                <a:lnTo>
                  <a:pt x="728006" y="0"/>
                </a:lnTo>
                <a:lnTo>
                  <a:pt x="728006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870918"/>
            <a:ext cx="7527889" cy="357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2"/>
              </a:lnSpc>
            </a:pPr>
            <a:r>
              <a:rPr lang="en-US" sz="7252" spc="-69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Sistema de Gerenciamento Médico</a:t>
            </a:r>
          </a:p>
          <a:p>
            <a:pPr algn="l" marL="0" indent="0" lvl="0">
              <a:lnSpc>
                <a:spcPts val="696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15825" y="1254217"/>
            <a:ext cx="2119719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Grupo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277350"/>
            <a:ext cx="6897187" cy="23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00"/>
              </a:lnSpc>
            </a:pPr>
            <a:r>
              <a:rPr lang="en-US" sz="1700" spc="-85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Karolline Sena, Ketlen Santos, Lara Gomes, Lucas Moreira, Paloma Vitória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6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5775" y="592456"/>
            <a:ext cx="10036450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O  Problema  e  a  Solução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94819" y="1911102"/>
            <a:ext cx="3246805" cy="61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b="true" sz="2797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O  PROBLEMA: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0728" y="2872738"/>
            <a:ext cx="6781792" cy="2189569"/>
            <a:chOff x="0" y="0"/>
            <a:chExt cx="2351221" cy="7591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0728" y="5175765"/>
            <a:ext cx="6781792" cy="2189569"/>
            <a:chOff x="0" y="0"/>
            <a:chExt cx="2351221" cy="7591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0728" y="7481108"/>
            <a:ext cx="6781792" cy="2189569"/>
            <a:chOff x="0" y="0"/>
            <a:chExt cx="2351221" cy="759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18935" y="8094737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18935" y="5789394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8935" y="3486367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35942" y="5633807"/>
            <a:ext cx="4211572" cy="158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518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Dificuldade de acompanhamento médico.</a:t>
            </a:r>
          </a:p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569439" y="7936834"/>
            <a:ext cx="4275824" cy="2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518" b="tru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Baixa adesão ao tratamento pelo paciente.</a:t>
            </a:r>
          </a:p>
          <a:p>
            <a:pPr algn="l">
              <a:lnSpc>
                <a:spcPts val="4105"/>
              </a:lnSpc>
            </a:pPr>
          </a:p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663067" y="3084174"/>
            <a:ext cx="3957323" cy="158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2518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Dados de saúde fragmentados (papel, mensagens).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48270" y="2849240"/>
            <a:ext cx="6781792" cy="2189569"/>
            <a:chOff x="0" y="0"/>
            <a:chExt cx="2351221" cy="7591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748270" y="5152268"/>
            <a:ext cx="6781792" cy="2189569"/>
            <a:chOff x="0" y="0"/>
            <a:chExt cx="2351221" cy="7591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48270" y="7457610"/>
            <a:ext cx="6781792" cy="2189569"/>
            <a:chOff x="0" y="0"/>
            <a:chExt cx="2351221" cy="7591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51221" cy="759115"/>
            </a:xfrm>
            <a:custGeom>
              <a:avLst/>
              <a:gdLst/>
              <a:ahLst/>
              <a:cxnLst/>
              <a:rect r="r" b="b" t="t" l="l"/>
              <a:pathLst>
                <a:path h="759115" w="2351221">
                  <a:moveTo>
                    <a:pt x="17124" y="0"/>
                  </a:moveTo>
                  <a:lnTo>
                    <a:pt x="2334098" y="0"/>
                  </a:lnTo>
                  <a:cubicBezTo>
                    <a:pt x="2343555" y="0"/>
                    <a:pt x="2351221" y="7667"/>
                    <a:pt x="2351221" y="17124"/>
                  </a:cubicBezTo>
                  <a:lnTo>
                    <a:pt x="2351221" y="741992"/>
                  </a:lnTo>
                  <a:cubicBezTo>
                    <a:pt x="2351221" y="751449"/>
                    <a:pt x="2343555" y="759115"/>
                    <a:pt x="2334098" y="759115"/>
                  </a:cubicBezTo>
                  <a:lnTo>
                    <a:pt x="17124" y="759115"/>
                  </a:lnTo>
                  <a:cubicBezTo>
                    <a:pt x="7667" y="759115"/>
                    <a:pt x="0" y="751449"/>
                    <a:pt x="0" y="741992"/>
                  </a:cubicBezTo>
                  <a:lnTo>
                    <a:pt x="0" y="17124"/>
                  </a:lnTo>
                  <a:cubicBezTo>
                    <a:pt x="0" y="7667"/>
                    <a:pt x="7667" y="0"/>
                    <a:pt x="17124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351221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316477" y="8071239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16477" y="5765897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16477" y="3462869"/>
            <a:ext cx="1750504" cy="116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8995" spc="-863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66981" y="5119080"/>
            <a:ext cx="4463080" cy="261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  <a:spcBef>
                <a:spcPct val="0"/>
              </a:spcBef>
            </a:pPr>
            <a:r>
              <a:rPr lang="en-US" b="true" sz="2518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Perfis Dedicados:</a:t>
            </a:r>
            <a:r>
              <a:rPr lang="en-US" b="true" sz="2518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Paciente (Auto-gestão), Médico (Monitoramento), Admin (Gestão).</a:t>
            </a:r>
          </a:p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2066981" y="7422735"/>
            <a:ext cx="3770066" cy="261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518" b="tru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Interface simples para uso direto no navegador (via JavaScript).</a:t>
            </a:r>
          </a:p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066981" y="3317726"/>
            <a:ext cx="3957323" cy="107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05"/>
              </a:lnSpc>
              <a:spcBef>
                <a:spcPct val="0"/>
              </a:spcBef>
            </a:pPr>
            <a:r>
              <a:rPr lang="en-US" b="true" sz="2518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Centralização:</a:t>
            </a:r>
            <a:r>
              <a:rPr lang="en-US" b="true" sz="2518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Tudo numa plataforma única.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92361" y="1911102"/>
            <a:ext cx="5079054" cy="61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60"/>
              </a:lnSpc>
            </a:pPr>
            <a:r>
              <a:rPr lang="en-US" b="true" sz="2797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A   NOSSA  SOLUÇÃO (SGM):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1313" y="592456"/>
            <a:ext cx="14525374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 Escolhas Técnicas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645" y="2327847"/>
            <a:ext cx="8812871" cy="321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201" b="true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acken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d: Java + Spring Boot</a:t>
            </a:r>
          </a:p>
          <a:p>
            <a:pPr algn="l" marL="648011" indent="-324005" lvl="1">
              <a:lnSpc>
                <a:spcPts val="4892"/>
              </a:lnSpc>
              <a:buFont typeface="Arial"/>
              <a:buChar char="•"/>
            </a:pPr>
            <a:r>
              <a:rPr lang="en-US" sz="30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Rápido para criar API RESTful e gerenciar dependências.</a:t>
            </a:r>
          </a:p>
          <a:p>
            <a:pPr algn="l" marL="648011" indent="-324005" lvl="1">
              <a:lnSpc>
                <a:spcPts val="4892"/>
              </a:lnSpc>
              <a:buFont typeface="Arial"/>
              <a:buChar char="•"/>
            </a:pPr>
            <a:r>
              <a:rPr lang="en-US" sz="30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Organização robusta em camadas (MVC).</a:t>
            </a:r>
          </a:p>
          <a:p>
            <a:pPr algn="l">
              <a:lnSpc>
                <a:spcPts val="5218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605730" y="6637386"/>
            <a:ext cx="3474741" cy="3649614"/>
            <a:chOff x="0" y="0"/>
            <a:chExt cx="2210076" cy="23213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0077" cy="2321303"/>
            </a:xfrm>
            <a:custGeom>
              <a:avLst/>
              <a:gdLst/>
              <a:ahLst/>
              <a:cxnLst/>
              <a:rect r="r" b="b" t="t" l="l"/>
              <a:pathLst>
                <a:path h="2321303" w="2210077">
                  <a:moveTo>
                    <a:pt x="0" y="0"/>
                  </a:moveTo>
                  <a:lnTo>
                    <a:pt x="2210077" y="0"/>
                  </a:lnTo>
                  <a:lnTo>
                    <a:pt x="2210077" y="2321303"/>
                  </a:lnTo>
                  <a:lnTo>
                    <a:pt x="0" y="2321303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10076" cy="2349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913041" y="7133305"/>
            <a:ext cx="2860118" cy="2813316"/>
          </a:xfrm>
          <a:custGeom>
            <a:avLst/>
            <a:gdLst/>
            <a:ahLst/>
            <a:cxnLst/>
            <a:rect r="r" b="b" t="t" l="l"/>
            <a:pathLst>
              <a:path h="2813316" w="2860118">
                <a:moveTo>
                  <a:pt x="0" y="0"/>
                </a:moveTo>
                <a:lnTo>
                  <a:pt x="2860118" y="0"/>
                </a:lnTo>
                <a:lnTo>
                  <a:pt x="2860118" y="2813316"/>
                </a:lnTo>
                <a:lnTo>
                  <a:pt x="0" y="2813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512645" y="5324842"/>
            <a:ext cx="8812871" cy="513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201" b="true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anco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Relacional: MySQL</a:t>
            </a:r>
          </a:p>
          <a:p>
            <a:pPr algn="l" marL="669600" indent="-334800" lvl="1">
              <a:lnSpc>
                <a:spcPts val="5055"/>
              </a:lnSpc>
              <a:buFont typeface="Arial"/>
              <a:buChar char="•"/>
            </a:pPr>
            <a:r>
              <a:rPr lang="en-US" sz="31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G</a:t>
            </a:r>
            <a:r>
              <a:rPr lang="en-US" sz="31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arantia ACID: Essencial para dados críticos (prescrições, pacientes) que não podem falhar.</a:t>
            </a:r>
          </a:p>
          <a:p>
            <a:pPr algn="l" marL="669600" indent="-334800" lvl="1">
              <a:lnSpc>
                <a:spcPts val="5055"/>
              </a:lnSpc>
              <a:buFont typeface="Arial"/>
              <a:buChar char="•"/>
            </a:pPr>
            <a:r>
              <a:rPr lang="en-US" sz="31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Recursos: Suporte a Triggers, Procedures e Views.</a:t>
            </a:r>
          </a:p>
          <a:p>
            <a:pPr algn="l">
              <a:lnSpc>
                <a:spcPts val="4892"/>
              </a:lnSpc>
            </a:pPr>
          </a:p>
          <a:p>
            <a:pPr algn="l">
              <a:lnSpc>
                <a:spcPts val="489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03614" y="2327847"/>
            <a:ext cx="7554579" cy="464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8"/>
              </a:lnSpc>
            </a:pPr>
            <a:r>
              <a:rPr lang="en-US" sz="3201" b="true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B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anco NoSQL</a:t>
            </a:r>
            <a:r>
              <a:rPr lang="en-US" b="true" sz="3201">
                <a:solidFill>
                  <a:srgbClr val="156669"/>
                </a:solidFill>
                <a:latin typeface="Agrandir Bold"/>
                <a:ea typeface="Agrandir Bold"/>
                <a:cs typeface="Agrandir Bold"/>
                <a:sym typeface="Agrandir Bold"/>
              </a:rPr>
              <a:t>: MongoDB (Arquitetura Híbrida)</a:t>
            </a:r>
          </a:p>
          <a:p>
            <a:pPr algn="l" marL="691190" indent="-345595" lvl="1">
              <a:lnSpc>
                <a:spcPts val="5218"/>
              </a:lnSpc>
              <a:buFont typeface="Arial"/>
              <a:buChar char="•"/>
            </a:pPr>
            <a:r>
              <a:rPr lang="en-US" sz="32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Escalabil</a:t>
            </a:r>
            <a:r>
              <a:rPr lang="en-US" sz="32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idade: Ideal para dados de alto volume e escrita rápida.</a:t>
            </a:r>
          </a:p>
          <a:p>
            <a:pPr algn="l" marL="691190" indent="-345595" lvl="1">
              <a:lnSpc>
                <a:spcPts val="5218"/>
              </a:lnSpc>
              <a:buFont typeface="Arial"/>
              <a:buChar char="•"/>
            </a:pPr>
            <a:r>
              <a:rPr lang="en-US" sz="3201">
                <a:solidFill>
                  <a:srgbClr val="156669"/>
                </a:solidFill>
                <a:latin typeface="Agrandir"/>
                <a:ea typeface="Agrandir"/>
                <a:cs typeface="Agrandir"/>
                <a:sym typeface="Agrandir"/>
              </a:rPr>
              <a:t>Aplicação: Usado para Logs de Auditoria (desafoga o MySQL).</a:t>
            </a:r>
          </a:p>
          <a:p>
            <a:pPr algn="l">
              <a:lnSpc>
                <a:spcPts val="521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7939" y="1842391"/>
            <a:ext cx="6935834" cy="8108779"/>
          </a:xfrm>
          <a:custGeom>
            <a:avLst/>
            <a:gdLst/>
            <a:ahLst/>
            <a:cxnLst/>
            <a:rect r="r" b="b" t="t" l="l"/>
            <a:pathLst>
              <a:path h="8108779" w="6935834">
                <a:moveTo>
                  <a:pt x="0" y="0"/>
                </a:moveTo>
                <a:lnTo>
                  <a:pt x="6935834" y="0"/>
                </a:lnTo>
                <a:lnTo>
                  <a:pt x="6935834" y="8108779"/>
                </a:lnTo>
                <a:lnTo>
                  <a:pt x="0" y="8108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81313" y="798453"/>
            <a:ext cx="14525374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Arquitetura  e  Modelagem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1284" y="2594695"/>
            <a:ext cx="8726000" cy="6794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true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Padrão MVC:</a:t>
            </a:r>
          </a:p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Mod</a:t>
            </a: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el: DAOs e Entidades (Java).</a:t>
            </a:r>
          </a:p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View: Frontend Web (JS).</a:t>
            </a:r>
          </a:p>
          <a:p>
            <a:pPr algn="just" marL="690872" indent="-345436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Controller: API REST (Spring Boot).</a:t>
            </a:r>
          </a:p>
          <a:p>
            <a:pPr algn="just">
              <a:lnSpc>
                <a:spcPts val="4619"/>
              </a:lnSpc>
              <a:spcBef>
                <a:spcPct val="0"/>
              </a:spcBef>
            </a:pPr>
          </a:p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Modelagem de Dados (3NF):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Autenticação: </a:t>
            </a: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Usuarios + Grupos_Usuarios (Login Centralizado).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Perfis: Paciente, Medico, Administrador.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Saúde: Prescricao ➔ Lembrete, Medicao (Glicemia/Pressão).</a:t>
            </a:r>
          </a:p>
          <a:p>
            <a:pPr algn="just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30927" y="1766008"/>
            <a:ext cx="14226146" cy="832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 Se</a:t>
            </a: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gurança e Aces</a:t>
            </a: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 (RBAC)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Login via LoginDAO com JOIN entre usuarios e grupos.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Garante acesso restrito (Médico só vê seus pacientes).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Ge</a:t>
            </a: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ração de IDs (Functions)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F</a:t>
            </a: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unção proximo_id() para controle total dos IDs de Usuarios e Pac</a:t>
            </a: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ientes (s</a:t>
            </a: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ubstituindo AUTO_INCREMENT nestes casos).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Regras de Negócio (Triggers e Procedures)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Trigge</a:t>
            </a: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r: Bloqueia datas de prescrição n</a:t>
            </a: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o passado.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Procedure: Garante transações seguras ao criar Paciente + Usuário.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620"/>
              </a:lnSpc>
            </a:pP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</a:t>
            </a: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Ot</a:t>
            </a:r>
            <a:r>
              <a:rPr lang="en-US" b="true" sz="330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imização (Views)</a:t>
            </a:r>
          </a:p>
          <a:p>
            <a:pPr algn="just" marL="669291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vw_lembretes_pendentes para consultas rápidas na API.</a:t>
            </a:r>
          </a:p>
          <a:p>
            <a:pPr algn="just">
              <a:lnSpc>
                <a:spcPts val="462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96986" y="8125422"/>
            <a:ext cx="2125811" cy="1967341"/>
          </a:xfrm>
          <a:custGeom>
            <a:avLst/>
            <a:gdLst/>
            <a:ahLst/>
            <a:cxnLst/>
            <a:rect r="r" b="b" t="t" l="l"/>
            <a:pathLst>
              <a:path h="1967341" w="2125811">
                <a:moveTo>
                  <a:pt x="0" y="0"/>
                </a:moveTo>
                <a:lnTo>
                  <a:pt x="2125811" y="0"/>
                </a:lnTo>
                <a:lnTo>
                  <a:pt x="2125811" y="1967341"/>
                </a:lnTo>
                <a:lnTo>
                  <a:pt x="0" y="196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81313" y="336193"/>
            <a:ext cx="14525374" cy="1043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</a:pPr>
            <a:r>
              <a:rPr lang="en-US" sz="7999" spc="-7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Recursos  Implementados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1212" y="1028700"/>
            <a:ext cx="13137345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799"/>
              </a:lnSpc>
            </a:pPr>
            <a:r>
              <a:rPr lang="en-US" sz="8999" spc="-674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Demonstração da aplicação: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1313" y="543882"/>
            <a:ext cx="14525374" cy="116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9"/>
              </a:lnSpc>
            </a:pPr>
            <a:r>
              <a:rPr lang="en-US" sz="8999" spc="-62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Conclusão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796451" y="2150939"/>
            <a:ext cx="12695098" cy="5985122"/>
            <a:chOff x="0" y="0"/>
            <a:chExt cx="5350472" cy="2522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50472" cy="2522488"/>
            </a:xfrm>
            <a:custGeom>
              <a:avLst/>
              <a:gdLst/>
              <a:ahLst/>
              <a:cxnLst/>
              <a:rect r="r" b="b" t="t" l="l"/>
              <a:pathLst>
                <a:path h="2522488" w="5350472">
                  <a:moveTo>
                    <a:pt x="9148" y="0"/>
                  </a:moveTo>
                  <a:lnTo>
                    <a:pt x="5341325" y="0"/>
                  </a:lnTo>
                  <a:cubicBezTo>
                    <a:pt x="5343751" y="0"/>
                    <a:pt x="5346078" y="964"/>
                    <a:pt x="5347793" y="2679"/>
                  </a:cubicBezTo>
                  <a:cubicBezTo>
                    <a:pt x="5349508" y="4395"/>
                    <a:pt x="5350472" y="6721"/>
                    <a:pt x="5350472" y="9148"/>
                  </a:cubicBezTo>
                  <a:lnTo>
                    <a:pt x="5350472" y="2513340"/>
                  </a:lnTo>
                  <a:cubicBezTo>
                    <a:pt x="5350472" y="2515766"/>
                    <a:pt x="5349508" y="2518093"/>
                    <a:pt x="5347793" y="2519808"/>
                  </a:cubicBezTo>
                  <a:cubicBezTo>
                    <a:pt x="5346078" y="2521524"/>
                    <a:pt x="5343751" y="2522488"/>
                    <a:pt x="5341325" y="2522488"/>
                  </a:cubicBezTo>
                  <a:lnTo>
                    <a:pt x="9148" y="2522488"/>
                  </a:lnTo>
                  <a:cubicBezTo>
                    <a:pt x="6721" y="2522488"/>
                    <a:pt x="4395" y="2521524"/>
                    <a:pt x="2679" y="2519808"/>
                  </a:cubicBezTo>
                  <a:cubicBezTo>
                    <a:pt x="964" y="2518093"/>
                    <a:pt x="0" y="2515766"/>
                    <a:pt x="0" y="2513340"/>
                  </a:cubicBezTo>
                  <a:lnTo>
                    <a:pt x="0" y="9148"/>
                  </a:lnTo>
                  <a:cubicBezTo>
                    <a:pt x="0" y="6721"/>
                    <a:pt x="964" y="4395"/>
                    <a:pt x="2679" y="2679"/>
                  </a:cubicBezTo>
                  <a:cubicBezTo>
                    <a:pt x="4395" y="964"/>
                    <a:pt x="6721" y="0"/>
                    <a:pt x="9148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350472" cy="25605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74967" y="3479717"/>
            <a:ext cx="10138066" cy="325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74"/>
              </a:lnSpc>
              <a:spcBef>
                <a:spcPct val="0"/>
              </a:spcBef>
            </a:pPr>
            <a:r>
              <a:rPr lang="en-US" b="true" sz="3696" spc="-221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 SGM entrega uma plataforma Segura e Escalável.</a:t>
            </a:r>
          </a:p>
          <a:p>
            <a:pPr algn="just">
              <a:lnSpc>
                <a:spcPts val="5174"/>
              </a:lnSpc>
              <a:spcBef>
                <a:spcPct val="0"/>
              </a:spcBef>
            </a:pPr>
          </a:p>
          <a:p>
            <a:pPr algn="just" marL="797981" indent="-398991" lvl="1">
              <a:lnSpc>
                <a:spcPts val="5174"/>
              </a:lnSpc>
              <a:buFont typeface="Arial"/>
              <a:buChar char="•"/>
            </a:pPr>
            <a:r>
              <a:rPr lang="en-US" sz="3696" spc="-221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MySQL garante a integridade dos dados clínicos.</a:t>
            </a:r>
          </a:p>
          <a:p>
            <a:pPr algn="just" marL="797981" indent="-398991" lvl="1">
              <a:lnSpc>
                <a:spcPts val="5174"/>
              </a:lnSpc>
              <a:buFont typeface="Arial"/>
              <a:buChar char="•"/>
            </a:pPr>
            <a:r>
              <a:rPr lang="en-US" sz="3696" spc="-221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MongoDB garante a performance da auditoria.</a:t>
            </a:r>
          </a:p>
          <a:p>
            <a:pPr algn="just" marL="797981" indent="-398991" lvl="1">
              <a:lnSpc>
                <a:spcPts val="5174"/>
              </a:lnSpc>
              <a:buFont typeface="Arial"/>
              <a:buChar char="•"/>
            </a:pPr>
            <a:r>
              <a:rPr lang="en-US" sz="3696" spc="-221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Spring Boot conecta tudo com eficiência.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83934" y="7080434"/>
            <a:ext cx="2920133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799" spc="-460">
                <a:solidFill>
                  <a:srgbClr val="15666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DAG3k85SkoQ</dc:identifier>
  <dcterms:modified xsi:type="dcterms:W3CDTF">2011-08-01T06:04:30Z</dcterms:modified>
  <cp:revision>1</cp:revision>
  <dc:title>SGM</dc:title>
</cp:coreProperties>
</file>
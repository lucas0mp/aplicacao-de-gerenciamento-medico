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18288000" cy="10287000"/>
  <p:notesSz cx="6858000" cy="9144000"/>
  <p:embeddedFontLst>
    <p:embeddedFont>
      <p:font typeface="Public Sans" charset="1" panose="00000000000000000000"/>
      <p:regular r:id="rId13"/>
    </p:embeddedFont>
    <p:embeddedFont>
      <p:font typeface="Agrandir Bold" charset="1" panose="00000800000000000000"/>
      <p:regular r:id="rId14"/>
    </p:embeddedFont>
    <p:embeddedFont>
      <p:font typeface="Agrandir Medium" charset="1" panose="00000600000000000000"/>
      <p:regular r:id="rId15"/>
    </p:embeddedFont>
    <p:embeddedFont>
      <p:font typeface="Agrandir" charset="1" panose="00000500000000000000"/>
      <p:regular r:id="rId16"/>
    </p:embeddedFont>
    <p:embeddedFont>
      <p:font typeface="Public Sans Bold" charset="1" panose="0000000000000000000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9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6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0" y="302221"/>
            <a:ext cx="8841904" cy="9682557"/>
            <a:chOff x="0" y="0"/>
            <a:chExt cx="2328732" cy="255013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28732" cy="2550139"/>
            </a:xfrm>
            <a:custGeom>
              <a:avLst/>
              <a:gdLst/>
              <a:ahLst/>
              <a:cxnLst/>
              <a:rect r="r" b="b" t="t" l="l"/>
              <a:pathLst>
                <a:path h="2550139" w="2328732">
                  <a:moveTo>
                    <a:pt x="0" y="0"/>
                  </a:moveTo>
                  <a:lnTo>
                    <a:pt x="2328732" y="0"/>
                  </a:lnTo>
                  <a:lnTo>
                    <a:pt x="2328732" y="2550139"/>
                  </a:lnTo>
                  <a:lnTo>
                    <a:pt x="0" y="2550139"/>
                  </a:lnTo>
                  <a:close/>
                </a:path>
              </a:pathLst>
            </a:custGeom>
            <a:solidFill>
              <a:srgbClr val="FBF6F1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28575"/>
              <a:ext cx="2328732" cy="257871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0159783" y="2041700"/>
            <a:ext cx="6810338" cy="6203599"/>
          </a:xfrm>
          <a:custGeom>
            <a:avLst/>
            <a:gdLst/>
            <a:ahLst/>
            <a:cxnLst/>
            <a:rect r="r" b="b" t="t" l="l"/>
            <a:pathLst>
              <a:path h="6203599" w="6810338">
                <a:moveTo>
                  <a:pt x="0" y="0"/>
                </a:moveTo>
                <a:lnTo>
                  <a:pt x="6810338" y="0"/>
                </a:lnTo>
                <a:lnTo>
                  <a:pt x="6810338" y="6203600"/>
                </a:lnTo>
                <a:lnTo>
                  <a:pt x="0" y="62036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028700" y="1028700"/>
            <a:ext cx="728006" cy="772980"/>
          </a:xfrm>
          <a:custGeom>
            <a:avLst/>
            <a:gdLst/>
            <a:ahLst/>
            <a:cxnLst/>
            <a:rect r="r" b="b" t="t" l="l"/>
            <a:pathLst>
              <a:path h="772980" w="728006">
                <a:moveTo>
                  <a:pt x="0" y="0"/>
                </a:moveTo>
                <a:lnTo>
                  <a:pt x="728006" y="0"/>
                </a:lnTo>
                <a:lnTo>
                  <a:pt x="728006" y="772980"/>
                </a:lnTo>
                <a:lnTo>
                  <a:pt x="0" y="77298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3870918"/>
            <a:ext cx="7527889" cy="35738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962"/>
              </a:lnSpc>
            </a:pPr>
            <a:r>
              <a:rPr lang="en-US" sz="7252" spc="-696">
                <a:solidFill>
                  <a:srgbClr val="156669"/>
                </a:solidFill>
                <a:latin typeface="Public Sans"/>
                <a:ea typeface="Public Sans"/>
                <a:cs typeface="Public Sans"/>
                <a:sym typeface="Public Sans"/>
              </a:rPr>
              <a:t>Sistema de Gerenciamento Médico</a:t>
            </a:r>
          </a:p>
          <a:p>
            <a:pPr algn="l" marL="0" indent="0" lvl="0">
              <a:lnSpc>
                <a:spcPts val="6962"/>
              </a:lnSpc>
            </a:pPr>
          </a:p>
        </p:txBody>
      </p:sp>
      <p:sp>
        <p:nvSpPr>
          <p:cNvPr name="TextBox 8" id="8"/>
          <p:cNvSpPr txBox="true"/>
          <p:nvPr/>
        </p:nvSpPr>
        <p:spPr>
          <a:xfrm rot="0">
            <a:off x="2015825" y="1254217"/>
            <a:ext cx="2119719" cy="3886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90"/>
              </a:lnSpc>
              <a:spcBef>
                <a:spcPct val="0"/>
              </a:spcBef>
            </a:pPr>
            <a:r>
              <a:rPr lang="en-US" sz="3000" spc="-246">
                <a:solidFill>
                  <a:srgbClr val="156669"/>
                </a:solidFill>
                <a:latin typeface="Public Sans"/>
                <a:ea typeface="Public Sans"/>
                <a:cs typeface="Public Sans"/>
                <a:sym typeface="Public Sans"/>
              </a:rPr>
              <a:t>Grupo 06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9277350"/>
            <a:ext cx="6897187" cy="2336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700"/>
              </a:lnSpc>
            </a:pPr>
            <a:r>
              <a:rPr lang="en-US" sz="1700" spc="-85">
                <a:solidFill>
                  <a:srgbClr val="156669"/>
                </a:solidFill>
                <a:latin typeface="Public Sans"/>
                <a:ea typeface="Public Sans"/>
                <a:cs typeface="Public Sans"/>
                <a:sym typeface="Public Sans"/>
              </a:rPr>
              <a:t>Karolline Sena, Ketlen Santos, Lara Gomes, Lucas Moreira, Paloma Vitória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E6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125775" y="592456"/>
            <a:ext cx="10036450" cy="10439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679"/>
              </a:lnSpc>
            </a:pPr>
            <a:r>
              <a:rPr lang="en-US" sz="7999" spc="-767">
                <a:solidFill>
                  <a:srgbClr val="156669"/>
                </a:solidFill>
                <a:latin typeface="Public Sans"/>
                <a:ea typeface="Public Sans"/>
                <a:cs typeface="Public Sans"/>
                <a:sym typeface="Public Sans"/>
              </a:rPr>
              <a:t>O  Problema  e  a  Solução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394819" y="1911102"/>
            <a:ext cx="3246805" cy="6187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560"/>
              </a:lnSpc>
            </a:pPr>
            <a:r>
              <a:rPr lang="en-US" b="true" sz="2797">
                <a:solidFill>
                  <a:srgbClr val="156669"/>
                </a:solidFill>
                <a:latin typeface="Agrandir Bold"/>
                <a:ea typeface="Agrandir Bold"/>
                <a:cs typeface="Agrandir Bold"/>
                <a:sym typeface="Agrandir Bold"/>
              </a:rPr>
              <a:t>O  PROBLEMA: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250728" y="2872738"/>
            <a:ext cx="6781792" cy="2189569"/>
            <a:chOff x="0" y="0"/>
            <a:chExt cx="2351221" cy="75911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351221" cy="759115"/>
            </a:xfrm>
            <a:custGeom>
              <a:avLst/>
              <a:gdLst/>
              <a:ahLst/>
              <a:cxnLst/>
              <a:rect r="r" b="b" t="t" l="l"/>
              <a:pathLst>
                <a:path h="759115" w="2351221">
                  <a:moveTo>
                    <a:pt x="17124" y="0"/>
                  </a:moveTo>
                  <a:lnTo>
                    <a:pt x="2334098" y="0"/>
                  </a:lnTo>
                  <a:cubicBezTo>
                    <a:pt x="2343555" y="0"/>
                    <a:pt x="2351221" y="7667"/>
                    <a:pt x="2351221" y="17124"/>
                  </a:cubicBezTo>
                  <a:lnTo>
                    <a:pt x="2351221" y="741992"/>
                  </a:lnTo>
                  <a:cubicBezTo>
                    <a:pt x="2351221" y="751449"/>
                    <a:pt x="2343555" y="759115"/>
                    <a:pt x="2334098" y="759115"/>
                  </a:cubicBezTo>
                  <a:lnTo>
                    <a:pt x="17124" y="759115"/>
                  </a:lnTo>
                  <a:cubicBezTo>
                    <a:pt x="7667" y="759115"/>
                    <a:pt x="0" y="751449"/>
                    <a:pt x="0" y="741992"/>
                  </a:cubicBezTo>
                  <a:lnTo>
                    <a:pt x="0" y="17124"/>
                  </a:lnTo>
                  <a:cubicBezTo>
                    <a:pt x="0" y="7667"/>
                    <a:pt x="7667" y="0"/>
                    <a:pt x="17124" y="0"/>
                  </a:cubicBezTo>
                  <a:close/>
                </a:path>
              </a:pathLst>
            </a:custGeom>
            <a:solidFill>
              <a:srgbClr val="FBF6F1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2351221" cy="7972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250728" y="5175765"/>
            <a:ext cx="6781792" cy="2189569"/>
            <a:chOff x="0" y="0"/>
            <a:chExt cx="2351221" cy="759115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351221" cy="759115"/>
            </a:xfrm>
            <a:custGeom>
              <a:avLst/>
              <a:gdLst/>
              <a:ahLst/>
              <a:cxnLst/>
              <a:rect r="r" b="b" t="t" l="l"/>
              <a:pathLst>
                <a:path h="759115" w="2351221">
                  <a:moveTo>
                    <a:pt x="17124" y="0"/>
                  </a:moveTo>
                  <a:lnTo>
                    <a:pt x="2334098" y="0"/>
                  </a:lnTo>
                  <a:cubicBezTo>
                    <a:pt x="2343555" y="0"/>
                    <a:pt x="2351221" y="7667"/>
                    <a:pt x="2351221" y="17124"/>
                  </a:cubicBezTo>
                  <a:lnTo>
                    <a:pt x="2351221" y="741992"/>
                  </a:lnTo>
                  <a:cubicBezTo>
                    <a:pt x="2351221" y="751449"/>
                    <a:pt x="2343555" y="759115"/>
                    <a:pt x="2334098" y="759115"/>
                  </a:cubicBezTo>
                  <a:lnTo>
                    <a:pt x="17124" y="759115"/>
                  </a:lnTo>
                  <a:cubicBezTo>
                    <a:pt x="7667" y="759115"/>
                    <a:pt x="0" y="751449"/>
                    <a:pt x="0" y="741992"/>
                  </a:cubicBezTo>
                  <a:lnTo>
                    <a:pt x="0" y="17124"/>
                  </a:lnTo>
                  <a:cubicBezTo>
                    <a:pt x="0" y="7667"/>
                    <a:pt x="7667" y="0"/>
                    <a:pt x="17124" y="0"/>
                  </a:cubicBezTo>
                  <a:close/>
                </a:path>
              </a:pathLst>
            </a:custGeom>
            <a:solidFill>
              <a:srgbClr val="FBF6F1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2351221" cy="7972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50728" y="7481108"/>
            <a:ext cx="6781792" cy="2189569"/>
            <a:chOff x="0" y="0"/>
            <a:chExt cx="2351221" cy="759115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351221" cy="759115"/>
            </a:xfrm>
            <a:custGeom>
              <a:avLst/>
              <a:gdLst/>
              <a:ahLst/>
              <a:cxnLst/>
              <a:rect r="r" b="b" t="t" l="l"/>
              <a:pathLst>
                <a:path h="759115" w="2351221">
                  <a:moveTo>
                    <a:pt x="17124" y="0"/>
                  </a:moveTo>
                  <a:lnTo>
                    <a:pt x="2334098" y="0"/>
                  </a:lnTo>
                  <a:cubicBezTo>
                    <a:pt x="2343555" y="0"/>
                    <a:pt x="2351221" y="7667"/>
                    <a:pt x="2351221" y="17124"/>
                  </a:cubicBezTo>
                  <a:lnTo>
                    <a:pt x="2351221" y="741992"/>
                  </a:lnTo>
                  <a:cubicBezTo>
                    <a:pt x="2351221" y="751449"/>
                    <a:pt x="2343555" y="759115"/>
                    <a:pt x="2334098" y="759115"/>
                  </a:cubicBezTo>
                  <a:lnTo>
                    <a:pt x="17124" y="759115"/>
                  </a:lnTo>
                  <a:cubicBezTo>
                    <a:pt x="7667" y="759115"/>
                    <a:pt x="0" y="751449"/>
                    <a:pt x="0" y="741992"/>
                  </a:cubicBezTo>
                  <a:lnTo>
                    <a:pt x="0" y="17124"/>
                  </a:lnTo>
                  <a:cubicBezTo>
                    <a:pt x="0" y="7667"/>
                    <a:pt x="7667" y="0"/>
                    <a:pt x="17124" y="0"/>
                  </a:cubicBezTo>
                  <a:close/>
                </a:path>
              </a:pathLst>
            </a:custGeom>
            <a:solidFill>
              <a:srgbClr val="FBF6F1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2351221" cy="7972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818935" y="8094737"/>
            <a:ext cx="1750504" cy="11623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635"/>
              </a:lnSpc>
              <a:spcBef>
                <a:spcPct val="0"/>
              </a:spcBef>
            </a:pPr>
            <a:r>
              <a:rPr lang="en-US" sz="8995" spc="-863" strike="noStrike" u="none">
                <a:solidFill>
                  <a:srgbClr val="156669"/>
                </a:solidFill>
                <a:latin typeface="Public Sans"/>
                <a:ea typeface="Public Sans"/>
                <a:cs typeface="Public Sans"/>
                <a:sym typeface="Public Sans"/>
              </a:rPr>
              <a:t>03.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818935" y="5789394"/>
            <a:ext cx="1750504" cy="11623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635"/>
              </a:lnSpc>
              <a:spcBef>
                <a:spcPct val="0"/>
              </a:spcBef>
            </a:pPr>
            <a:r>
              <a:rPr lang="en-US" sz="8995" spc="-863" strike="noStrike" u="none">
                <a:solidFill>
                  <a:srgbClr val="156669"/>
                </a:solidFill>
                <a:latin typeface="Public Sans"/>
                <a:ea typeface="Public Sans"/>
                <a:cs typeface="Public Sans"/>
                <a:sym typeface="Public Sans"/>
              </a:rPr>
              <a:t>02.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818935" y="3486367"/>
            <a:ext cx="1750504" cy="11623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635"/>
              </a:lnSpc>
              <a:spcBef>
                <a:spcPct val="0"/>
              </a:spcBef>
            </a:pPr>
            <a:r>
              <a:rPr lang="en-US" sz="8995" spc="-863" strike="noStrike" u="none">
                <a:solidFill>
                  <a:srgbClr val="156669"/>
                </a:solidFill>
                <a:latin typeface="Public Sans"/>
                <a:ea typeface="Public Sans"/>
                <a:cs typeface="Public Sans"/>
                <a:sym typeface="Public Sans"/>
              </a:rPr>
              <a:t>01.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3535942" y="5633807"/>
            <a:ext cx="4211572" cy="15857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05"/>
              </a:lnSpc>
              <a:spcBef>
                <a:spcPct val="0"/>
              </a:spcBef>
            </a:pPr>
            <a:r>
              <a:rPr lang="en-US" b="true" sz="2518">
                <a:solidFill>
                  <a:srgbClr val="156669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Dificuldade de acompanhamento médico.</a:t>
            </a:r>
          </a:p>
          <a:p>
            <a:pPr algn="l" marL="0" indent="0" lvl="0">
              <a:lnSpc>
                <a:spcPts val="4105"/>
              </a:lnSpc>
              <a:spcBef>
                <a:spcPct val="0"/>
              </a:spcBef>
            </a:pPr>
          </a:p>
        </p:txBody>
      </p:sp>
      <p:sp>
        <p:nvSpPr>
          <p:cNvPr name="TextBox 17" id="17"/>
          <p:cNvSpPr txBox="true"/>
          <p:nvPr/>
        </p:nvSpPr>
        <p:spPr>
          <a:xfrm rot="0">
            <a:off x="3569439" y="7936834"/>
            <a:ext cx="4275824" cy="2099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05"/>
              </a:lnSpc>
            </a:pPr>
            <a:r>
              <a:rPr lang="en-US" sz="2518" b="true">
                <a:solidFill>
                  <a:srgbClr val="156669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Baixa adesão ao tratamento pelo paciente.</a:t>
            </a:r>
          </a:p>
          <a:p>
            <a:pPr algn="l">
              <a:lnSpc>
                <a:spcPts val="4105"/>
              </a:lnSpc>
            </a:pPr>
          </a:p>
          <a:p>
            <a:pPr algn="l" marL="0" indent="0" lvl="0">
              <a:lnSpc>
                <a:spcPts val="4105"/>
              </a:lnSpc>
              <a:spcBef>
                <a:spcPct val="0"/>
              </a:spcBef>
            </a:pPr>
          </a:p>
        </p:txBody>
      </p:sp>
      <p:sp>
        <p:nvSpPr>
          <p:cNvPr name="TextBox 18" id="18"/>
          <p:cNvSpPr txBox="true"/>
          <p:nvPr/>
        </p:nvSpPr>
        <p:spPr>
          <a:xfrm rot="0">
            <a:off x="3663067" y="3084174"/>
            <a:ext cx="3957323" cy="15857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105"/>
              </a:lnSpc>
              <a:spcBef>
                <a:spcPct val="0"/>
              </a:spcBef>
            </a:pPr>
            <a:r>
              <a:rPr lang="en-US" b="true" sz="2518">
                <a:solidFill>
                  <a:srgbClr val="156669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Dados de saúde fragmentados (papel, mensagens).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9748270" y="2849240"/>
            <a:ext cx="6781792" cy="2189569"/>
            <a:chOff x="0" y="0"/>
            <a:chExt cx="2351221" cy="759115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351221" cy="759115"/>
            </a:xfrm>
            <a:custGeom>
              <a:avLst/>
              <a:gdLst/>
              <a:ahLst/>
              <a:cxnLst/>
              <a:rect r="r" b="b" t="t" l="l"/>
              <a:pathLst>
                <a:path h="759115" w="2351221">
                  <a:moveTo>
                    <a:pt x="17124" y="0"/>
                  </a:moveTo>
                  <a:lnTo>
                    <a:pt x="2334098" y="0"/>
                  </a:lnTo>
                  <a:cubicBezTo>
                    <a:pt x="2343555" y="0"/>
                    <a:pt x="2351221" y="7667"/>
                    <a:pt x="2351221" y="17124"/>
                  </a:cubicBezTo>
                  <a:lnTo>
                    <a:pt x="2351221" y="741992"/>
                  </a:lnTo>
                  <a:cubicBezTo>
                    <a:pt x="2351221" y="751449"/>
                    <a:pt x="2343555" y="759115"/>
                    <a:pt x="2334098" y="759115"/>
                  </a:cubicBezTo>
                  <a:lnTo>
                    <a:pt x="17124" y="759115"/>
                  </a:lnTo>
                  <a:cubicBezTo>
                    <a:pt x="7667" y="759115"/>
                    <a:pt x="0" y="751449"/>
                    <a:pt x="0" y="741992"/>
                  </a:cubicBezTo>
                  <a:lnTo>
                    <a:pt x="0" y="17124"/>
                  </a:lnTo>
                  <a:cubicBezTo>
                    <a:pt x="0" y="7667"/>
                    <a:pt x="7667" y="0"/>
                    <a:pt x="17124" y="0"/>
                  </a:cubicBezTo>
                  <a:close/>
                </a:path>
              </a:pathLst>
            </a:custGeom>
            <a:solidFill>
              <a:srgbClr val="FBF6F1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2351221" cy="7972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9748270" y="5152268"/>
            <a:ext cx="6781792" cy="2189569"/>
            <a:chOff x="0" y="0"/>
            <a:chExt cx="2351221" cy="759115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351221" cy="759115"/>
            </a:xfrm>
            <a:custGeom>
              <a:avLst/>
              <a:gdLst/>
              <a:ahLst/>
              <a:cxnLst/>
              <a:rect r="r" b="b" t="t" l="l"/>
              <a:pathLst>
                <a:path h="759115" w="2351221">
                  <a:moveTo>
                    <a:pt x="17124" y="0"/>
                  </a:moveTo>
                  <a:lnTo>
                    <a:pt x="2334098" y="0"/>
                  </a:lnTo>
                  <a:cubicBezTo>
                    <a:pt x="2343555" y="0"/>
                    <a:pt x="2351221" y="7667"/>
                    <a:pt x="2351221" y="17124"/>
                  </a:cubicBezTo>
                  <a:lnTo>
                    <a:pt x="2351221" y="741992"/>
                  </a:lnTo>
                  <a:cubicBezTo>
                    <a:pt x="2351221" y="751449"/>
                    <a:pt x="2343555" y="759115"/>
                    <a:pt x="2334098" y="759115"/>
                  </a:cubicBezTo>
                  <a:lnTo>
                    <a:pt x="17124" y="759115"/>
                  </a:lnTo>
                  <a:cubicBezTo>
                    <a:pt x="7667" y="759115"/>
                    <a:pt x="0" y="751449"/>
                    <a:pt x="0" y="741992"/>
                  </a:cubicBezTo>
                  <a:lnTo>
                    <a:pt x="0" y="17124"/>
                  </a:lnTo>
                  <a:cubicBezTo>
                    <a:pt x="0" y="7667"/>
                    <a:pt x="7667" y="0"/>
                    <a:pt x="17124" y="0"/>
                  </a:cubicBezTo>
                  <a:close/>
                </a:path>
              </a:pathLst>
            </a:custGeom>
            <a:solidFill>
              <a:srgbClr val="FBF6F1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351221" cy="7972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9748270" y="7457610"/>
            <a:ext cx="6781792" cy="2189569"/>
            <a:chOff x="0" y="0"/>
            <a:chExt cx="2351221" cy="759115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351221" cy="759115"/>
            </a:xfrm>
            <a:custGeom>
              <a:avLst/>
              <a:gdLst/>
              <a:ahLst/>
              <a:cxnLst/>
              <a:rect r="r" b="b" t="t" l="l"/>
              <a:pathLst>
                <a:path h="759115" w="2351221">
                  <a:moveTo>
                    <a:pt x="17124" y="0"/>
                  </a:moveTo>
                  <a:lnTo>
                    <a:pt x="2334098" y="0"/>
                  </a:lnTo>
                  <a:cubicBezTo>
                    <a:pt x="2343555" y="0"/>
                    <a:pt x="2351221" y="7667"/>
                    <a:pt x="2351221" y="17124"/>
                  </a:cubicBezTo>
                  <a:lnTo>
                    <a:pt x="2351221" y="741992"/>
                  </a:lnTo>
                  <a:cubicBezTo>
                    <a:pt x="2351221" y="751449"/>
                    <a:pt x="2343555" y="759115"/>
                    <a:pt x="2334098" y="759115"/>
                  </a:cubicBezTo>
                  <a:lnTo>
                    <a:pt x="17124" y="759115"/>
                  </a:lnTo>
                  <a:cubicBezTo>
                    <a:pt x="7667" y="759115"/>
                    <a:pt x="0" y="751449"/>
                    <a:pt x="0" y="741992"/>
                  </a:cubicBezTo>
                  <a:lnTo>
                    <a:pt x="0" y="17124"/>
                  </a:lnTo>
                  <a:cubicBezTo>
                    <a:pt x="0" y="7667"/>
                    <a:pt x="7667" y="0"/>
                    <a:pt x="17124" y="0"/>
                  </a:cubicBezTo>
                  <a:close/>
                </a:path>
              </a:pathLst>
            </a:custGeom>
            <a:solidFill>
              <a:srgbClr val="FBF6F1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351221" cy="7972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10316477" y="8071239"/>
            <a:ext cx="1750504" cy="11623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635"/>
              </a:lnSpc>
              <a:spcBef>
                <a:spcPct val="0"/>
              </a:spcBef>
            </a:pPr>
            <a:r>
              <a:rPr lang="en-US" sz="8995" spc="-863" strike="noStrike" u="none">
                <a:solidFill>
                  <a:srgbClr val="156669"/>
                </a:solidFill>
                <a:latin typeface="Public Sans"/>
                <a:ea typeface="Public Sans"/>
                <a:cs typeface="Public Sans"/>
                <a:sym typeface="Public Sans"/>
              </a:rPr>
              <a:t>03.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0316477" y="5765897"/>
            <a:ext cx="1750504" cy="11623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635"/>
              </a:lnSpc>
              <a:spcBef>
                <a:spcPct val="0"/>
              </a:spcBef>
            </a:pPr>
            <a:r>
              <a:rPr lang="en-US" sz="8995" spc="-863" strike="noStrike" u="none">
                <a:solidFill>
                  <a:srgbClr val="156669"/>
                </a:solidFill>
                <a:latin typeface="Public Sans"/>
                <a:ea typeface="Public Sans"/>
                <a:cs typeface="Public Sans"/>
                <a:sym typeface="Public Sans"/>
              </a:rPr>
              <a:t>02.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0316477" y="3462869"/>
            <a:ext cx="1750504" cy="11623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635"/>
              </a:lnSpc>
              <a:spcBef>
                <a:spcPct val="0"/>
              </a:spcBef>
            </a:pPr>
            <a:r>
              <a:rPr lang="en-US" sz="8995" spc="-863" strike="noStrike" u="none">
                <a:solidFill>
                  <a:srgbClr val="156669"/>
                </a:solidFill>
                <a:latin typeface="Public Sans"/>
                <a:ea typeface="Public Sans"/>
                <a:cs typeface="Public Sans"/>
                <a:sym typeface="Public Sans"/>
              </a:rPr>
              <a:t>01.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2066981" y="5119080"/>
            <a:ext cx="4463080" cy="2615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05"/>
              </a:lnSpc>
              <a:spcBef>
                <a:spcPct val="0"/>
              </a:spcBef>
            </a:pPr>
            <a:r>
              <a:rPr lang="en-US" b="true" sz="2518">
                <a:solidFill>
                  <a:srgbClr val="156669"/>
                </a:solidFill>
                <a:latin typeface="Agrandir Bold"/>
                <a:ea typeface="Agrandir Bold"/>
                <a:cs typeface="Agrandir Bold"/>
                <a:sym typeface="Agrandir Bold"/>
              </a:rPr>
              <a:t>Perfis Dedicados:</a:t>
            </a:r>
            <a:r>
              <a:rPr lang="en-US" b="true" sz="2518">
                <a:solidFill>
                  <a:srgbClr val="156669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 Paciente (Auto-gestão), Médico (Monitoramento), Admin (Gestão).</a:t>
            </a:r>
          </a:p>
          <a:p>
            <a:pPr algn="l" marL="0" indent="0" lvl="0">
              <a:lnSpc>
                <a:spcPts val="4105"/>
              </a:lnSpc>
              <a:spcBef>
                <a:spcPct val="0"/>
              </a:spcBef>
            </a:pPr>
          </a:p>
        </p:txBody>
      </p:sp>
      <p:sp>
        <p:nvSpPr>
          <p:cNvPr name="TextBox 32" id="32"/>
          <p:cNvSpPr txBox="true"/>
          <p:nvPr/>
        </p:nvSpPr>
        <p:spPr>
          <a:xfrm rot="0">
            <a:off x="12066981" y="7422735"/>
            <a:ext cx="3770066" cy="26139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05"/>
              </a:lnSpc>
            </a:pPr>
            <a:r>
              <a:rPr lang="en-US" sz="2518" b="true">
                <a:solidFill>
                  <a:srgbClr val="156669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Interface simples para uso direto no navegador (via JavaScript).</a:t>
            </a:r>
          </a:p>
          <a:p>
            <a:pPr algn="l" marL="0" indent="0" lvl="0">
              <a:lnSpc>
                <a:spcPts val="4105"/>
              </a:lnSpc>
              <a:spcBef>
                <a:spcPct val="0"/>
              </a:spcBef>
            </a:pPr>
          </a:p>
        </p:txBody>
      </p:sp>
      <p:sp>
        <p:nvSpPr>
          <p:cNvPr name="TextBox 33" id="33"/>
          <p:cNvSpPr txBox="true"/>
          <p:nvPr/>
        </p:nvSpPr>
        <p:spPr>
          <a:xfrm rot="0">
            <a:off x="12066981" y="3317726"/>
            <a:ext cx="3957323" cy="1072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105"/>
              </a:lnSpc>
              <a:spcBef>
                <a:spcPct val="0"/>
              </a:spcBef>
            </a:pPr>
            <a:r>
              <a:rPr lang="en-US" b="true" sz="2518">
                <a:solidFill>
                  <a:srgbClr val="156669"/>
                </a:solidFill>
                <a:latin typeface="Agrandir Bold"/>
                <a:ea typeface="Agrandir Bold"/>
                <a:cs typeface="Agrandir Bold"/>
                <a:sym typeface="Agrandir Bold"/>
              </a:rPr>
              <a:t>Centralização:</a:t>
            </a:r>
            <a:r>
              <a:rPr lang="en-US" b="true" sz="2518">
                <a:solidFill>
                  <a:srgbClr val="156669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 Tudo numa plataforma única.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9892361" y="1911102"/>
            <a:ext cx="5079054" cy="6187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560"/>
              </a:lnSpc>
            </a:pPr>
            <a:r>
              <a:rPr lang="en-US" b="true" sz="2797">
                <a:solidFill>
                  <a:srgbClr val="156669"/>
                </a:solidFill>
                <a:latin typeface="Agrandir Bold"/>
                <a:ea typeface="Agrandir Bold"/>
                <a:cs typeface="Agrandir Bold"/>
                <a:sym typeface="Agrandir Bold"/>
              </a:rPr>
              <a:t>A   NOSSA  SOLUÇÃO (SGM):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881313" y="592456"/>
            <a:ext cx="14525374" cy="10439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679"/>
              </a:lnSpc>
            </a:pPr>
            <a:r>
              <a:rPr lang="en-US" sz="7999" spc="-767">
                <a:solidFill>
                  <a:srgbClr val="156669"/>
                </a:solidFill>
                <a:latin typeface="Public Sans"/>
                <a:ea typeface="Public Sans"/>
                <a:cs typeface="Public Sans"/>
                <a:sym typeface="Public Sans"/>
              </a:rPr>
              <a:t>  Escolhas Técnicas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512645" y="2327847"/>
            <a:ext cx="8812871" cy="32160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18"/>
              </a:lnSpc>
            </a:pPr>
            <a:r>
              <a:rPr lang="en-US" sz="3201" b="true">
                <a:solidFill>
                  <a:srgbClr val="156669"/>
                </a:solidFill>
                <a:latin typeface="Agrandir Bold"/>
                <a:ea typeface="Agrandir Bold"/>
                <a:cs typeface="Agrandir Bold"/>
                <a:sym typeface="Agrandir Bold"/>
              </a:rPr>
              <a:t>B</a:t>
            </a:r>
            <a:r>
              <a:rPr lang="en-US" b="true" sz="3201">
                <a:solidFill>
                  <a:srgbClr val="156669"/>
                </a:solidFill>
                <a:latin typeface="Agrandir Bold"/>
                <a:ea typeface="Agrandir Bold"/>
                <a:cs typeface="Agrandir Bold"/>
                <a:sym typeface="Agrandir Bold"/>
              </a:rPr>
              <a:t>acken</a:t>
            </a:r>
            <a:r>
              <a:rPr lang="en-US" b="true" sz="3201">
                <a:solidFill>
                  <a:srgbClr val="156669"/>
                </a:solidFill>
                <a:latin typeface="Agrandir Bold"/>
                <a:ea typeface="Agrandir Bold"/>
                <a:cs typeface="Agrandir Bold"/>
                <a:sym typeface="Agrandir Bold"/>
              </a:rPr>
              <a:t>d: Java + Spring Boot</a:t>
            </a:r>
          </a:p>
          <a:p>
            <a:pPr algn="l" marL="648011" indent="-324005" lvl="1">
              <a:lnSpc>
                <a:spcPts val="4892"/>
              </a:lnSpc>
              <a:buFont typeface="Arial"/>
              <a:buChar char="•"/>
            </a:pPr>
            <a:r>
              <a:rPr lang="en-US" sz="3001">
                <a:solidFill>
                  <a:srgbClr val="156669"/>
                </a:solidFill>
                <a:latin typeface="Agrandir"/>
                <a:ea typeface="Agrandir"/>
                <a:cs typeface="Agrandir"/>
                <a:sym typeface="Agrandir"/>
              </a:rPr>
              <a:t>Rápido para criar API RESTful e gerenciar dependências.</a:t>
            </a:r>
          </a:p>
          <a:p>
            <a:pPr algn="l" marL="648011" indent="-324005" lvl="1">
              <a:lnSpc>
                <a:spcPts val="4892"/>
              </a:lnSpc>
              <a:buFont typeface="Arial"/>
              <a:buChar char="•"/>
            </a:pPr>
            <a:r>
              <a:rPr lang="en-US" sz="3001">
                <a:solidFill>
                  <a:srgbClr val="156669"/>
                </a:solidFill>
                <a:latin typeface="Agrandir"/>
                <a:ea typeface="Agrandir"/>
                <a:cs typeface="Agrandir"/>
                <a:sym typeface="Agrandir"/>
              </a:rPr>
              <a:t>Organização robusta em camadas (MVC).</a:t>
            </a:r>
          </a:p>
          <a:p>
            <a:pPr algn="l">
              <a:lnSpc>
                <a:spcPts val="5218"/>
              </a:lnSpc>
            </a:pPr>
          </a:p>
        </p:txBody>
      </p:sp>
      <p:grpSp>
        <p:nvGrpSpPr>
          <p:cNvPr name="Group 4" id="4"/>
          <p:cNvGrpSpPr/>
          <p:nvPr/>
        </p:nvGrpSpPr>
        <p:grpSpPr>
          <a:xfrm rot="0">
            <a:off x="12605730" y="6637386"/>
            <a:ext cx="3474741" cy="3649614"/>
            <a:chOff x="0" y="0"/>
            <a:chExt cx="2210076" cy="232130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10077" cy="2321303"/>
            </a:xfrm>
            <a:custGeom>
              <a:avLst/>
              <a:gdLst/>
              <a:ahLst/>
              <a:cxnLst/>
              <a:rect r="r" b="b" t="t" l="l"/>
              <a:pathLst>
                <a:path h="2321303" w="2210077">
                  <a:moveTo>
                    <a:pt x="0" y="0"/>
                  </a:moveTo>
                  <a:lnTo>
                    <a:pt x="2210077" y="0"/>
                  </a:lnTo>
                  <a:lnTo>
                    <a:pt x="2210077" y="2321303"/>
                  </a:lnTo>
                  <a:lnTo>
                    <a:pt x="0" y="2321303"/>
                  </a:lnTo>
                  <a:close/>
                </a:path>
              </a:pathLst>
            </a:custGeom>
            <a:solidFill>
              <a:srgbClr val="F8F8F8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210076" cy="23498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name="Freeform 7" id="7"/>
          <p:cNvSpPr/>
          <p:nvPr/>
        </p:nvSpPr>
        <p:spPr>
          <a:xfrm flipH="false" flipV="false" rot="0">
            <a:off x="12913041" y="7133305"/>
            <a:ext cx="2860118" cy="2813316"/>
          </a:xfrm>
          <a:custGeom>
            <a:avLst/>
            <a:gdLst/>
            <a:ahLst/>
            <a:cxnLst/>
            <a:rect r="r" b="b" t="t" l="l"/>
            <a:pathLst>
              <a:path h="2813316" w="2860118">
                <a:moveTo>
                  <a:pt x="0" y="0"/>
                </a:moveTo>
                <a:lnTo>
                  <a:pt x="2860118" y="0"/>
                </a:lnTo>
                <a:lnTo>
                  <a:pt x="2860118" y="2813316"/>
                </a:lnTo>
                <a:lnTo>
                  <a:pt x="0" y="281331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8" id="8"/>
          <p:cNvSpPr txBox="true"/>
          <p:nvPr/>
        </p:nvSpPr>
        <p:spPr>
          <a:xfrm rot="0">
            <a:off x="512645" y="5324842"/>
            <a:ext cx="8812871" cy="51360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18"/>
              </a:lnSpc>
            </a:pPr>
            <a:r>
              <a:rPr lang="en-US" sz="3201" b="true">
                <a:solidFill>
                  <a:srgbClr val="156669"/>
                </a:solidFill>
                <a:latin typeface="Agrandir Bold"/>
                <a:ea typeface="Agrandir Bold"/>
                <a:cs typeface="Agrandir Bold"/>
                <a:sym typeface="Agrandir Bold"/>
              </a:rPr>
              <a:t>B</a:t>
            </a:r>
            <a:r>
              <a:rPr lang="en-US" b="true" sz="3201">
                <a:solidFill>
                  <a:srgbClr val="156669"/>
                </a:solidFill>
                <a:latin typeface="Agrandir Bold"/>
                <a:ea typeface="Agrandir Bold"/>
                <a:cs typeface="Agrandir Bold"/>
                <a:sym typeface="Agrandir Bold"/>
              </a:rPr>
              <a:t>anco</a:t>
            </a:r>
            <a:r>
              <a:rPr lang="en-US" b="true" sz="3201">
                <a:solidFill>
                  <a:srgbClr val="156669"/>
                </a:solidFill>
                <a:latin typeface="Agrandir Bold"/>
                <a:ea typeface="Agrandir Bold"/>
                <a:cs typeface="Agrandir Bold"/>
                <a:sym typeface="Agrandir Bold"/>
              </a:rPr>
              <a:t> Relacional: MySQL</a:t>
            </a:r>
          </a:p>
          <a:p>
            <a:pPr algn="l" marL="669600" indent="-334800" lvl="1">
              <a:lnSpc>
                <a:spcPts val="5055"/>
              </a:lnSpc>
              <a:buFont typeface="Arial"/>
              <a:buChar char="•"/>
            </a:pPr>
            <a:r>
              <a:rPr lang="en-US" sz="3101">
                <a:solidFill>
                  <a:srgbClr val="156669"/>
                </a:solidFill>
                <a:latin typeface="Agrandir"/>
                <a:ea typeface="Agrandir"/>
                <a:cs typeface="Agrandir"/>
                <a:sym typeface="Agrandir"/>
              </a:rPr>
              <a:t>G</a:t>
            </a:r>
            <a:r>
              <a:rPr lang="en-US" sz="3101">
                <a:solidFill>
                  <a:srgbClr val="156669"/>
                </a:solidFill>
                <a:latin typeface="Agrandir"/>
                <a:ea typeface="Agrandir"/>
                <a:cs typeface="Agrandir"/>
                <a:sym typeface="Agrandir"/>
              </a:rPr>
              <a:t>arantia ACID: Essencial para dados críticos (prescrições, pacientes) que não podem falhar.</a:t>
            </a:r>
          </a:p>
          <a:p>
            <a:pPr algn="l" marL="669600" indent="-334800" lvl="1">
              <a:lnSpc>
                <a:spcPts val="5055"/>
              </a:lnSpc>
              <a:buFont typeface="Arial"/>
              <a:buChar char="•"/>
            </a:pPr>
            <a:r>
              <a:rPr lang="en-US" sz="3101">
                <a:solidFill>
                  <a:srgbClr val="156669"/>
                </a:solidFill>
                <a:latin typeface="Agrandir"/>
                <a:ea typeface="Agrandir"/>
                <a:cs typeface="Agrandir"/>
                <a:sym typeface="Agrandir"/>
              </a:rPr>
              <a:t>Recursos: Suporte a Triggers, Procedures e Views.</a:t>
            </a:r>
          </a:p>
          <a:p>
            <a:pPr algn="l">
              <a:lnSpc>
                <a:spcPts val="4892"/>
              </a:lnSpc>
            </a:pPr>
          </a:p>
          <a:p>
            <a:pPr algn="l">
              <a:lnSpc>
                <a:spcPts val="4892"/>
              </a:lnSpc>
            </a:pPr>
          </a:p>
        </p:txBody>
      </p:sp>
      <p:sp>
        <p:nvSpPr>
          <p:cNvPr name="TextBox 9" id="9"/>
          <p:cNvSpPr txBox="true"/>
          <p:nvPr/>
        </p:nvSpPr>
        <p:spPr>
          <a:xfrm rot="0">
            <a:off x="10203614" y="2327847"/>
            <a:ext cx="7554579" cy="53020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18"/>
              </a:lnSpc>
            </a:pPr>
            <a:r>
              <a:rPr lang="en-US" sz="3201" b="true">
                <a:solidFill>
                  <a:srgbClr val="156669"/>
                </a:solidFill>
                <a:latin typeface="Agrandir Bold"/>
                <a:ea typeface="Agrandir Bold"/>
                <a:cs typeface="Agrandir Bold"/>
                <a:sym typeface="Agrandir Bold"/>
              </a:rPr>
              <a:t>B</a:t>
            </a:r>
            <a:r>
              <a:rPr lang="en-US" b="true" sz="3201">
                <a:solidFill>
                  <a:srgbClr val="156669"/>
                </a:solidFill>
                <a:latin typeface="Agrandir Bold"/>
                <a:ea typeface="Agrandir Bold"/>
                <a:cs typeface="Agrandir Bold"/>
                <a:sym typeface="Agrandir Bold"/>
              </a:rPr>
              <a:t>anco NoSQL</a:t>
            </a:r>
            <a:r>
              <a:rPr lang="en-US" b="true" sz="3201">
                <a:solidFill>
                  <a:srgbClr val="156669"/>
                </a:solidFill>
                <a:latin typeface="Agrandir Bold"/>
                <a:ea typeface="Agrandir Bold"/>
                <a:cs typeface="Agrandir Bold"/>
                <a:sym typeface="Agrandir Bold"/>
              </a:rPr>
              <a:t>: MongoDB (Arquitetura Híbrida)</a:t>
            </a:r>
          </a:p>
          <a:p>
            <a:pPr algn="l" marL="691190" indent="-345595" lvl="1">
              <a:lnSpc>
                <a:spcPts val="5218"/>
              </a:lnSpc>
              <a:buFont typeface="Arial"/>
              <a:buChar char="•"/>
            </a:pPr>
            <a:r>
              <a:rPr lang="en-US" sz="3201">
                <a:solidFill>
                  <a:srgbClr val="156669"/>
                </a:solidFill>
                <a:latin typeface="Agrandir"/>
                <a:ea typeface="Agrandir"/>
                <a:cs typeface="Agrandir"/>
                <a:sym typeface="Agrandir"/>
              </a:rPr>
              <a:t>Escalabil</a:t>
            </a:r>
            <a:r>
              <a:rPr lang="en-US" sz="3201">
                <a:solidFill>
                  <a:srgbClr val="156669"/>
                </a:solidFill>
                <a:latin typeface="Agrandir"/>
                <a:ea typeface="Agrandir"/>
                <a:cs typeface="Agrandir"/>
                <a:sym typeface="Agrandir"/>
              </a:rPr>
              <a:t>idade: Ideal para dados de alto volume e escrita rápida.</a:t>
            </a:r>
          </a:p>
          <a:p>
            <a:pPr algn="l" marL="691190" indent="-345595" lvl="1">
              <a:lnSpc>
                <a:spcPts val="5218"/>
              </a:lnSpc>
              <a:buFont typeface="Arial"/>
              <a:buChar char="•"/>
            </a:pPr>
            <a:r>
              <a:rPr lang="en-US" sz="3201">
                <a:solidFill>
                  <a:srgbClr val="156669"/>
                </a:solidFill>
                <a:latin typeface="Agrandir"/>
                <a:ea typeface="Agrandir"/>
                <a:cs typeface="Agrandir"/>
                <a:sym typeface="Agrandir"/>
              </a:rPr>
              <a:t>Aplicação: Usado dados não estruturados do Diário Clínico do Paciente</a:t>
            </a:r>
          </a:p>
          <a:p>
            <a:pPr algn="l">
              <a:lnSpc>
                <a:spcPts val="5218"/>
              </a:lnSpc>
            </a:pP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B8D2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937939" y="1842391"/>
            <a:ext cx="6935834" cy="8108779"/>
          </a:xfrm>
          <a:custGeom>
            <a:avLst/>
            <a:gdLst/>
            <a:ahLst/>
            <a:cxnLst/>
            <a:rect r="r" b="b" t="t" l="l"/>
            <a:pathLst>
              <a:path h="8108779" w="6935834">
                <a:moveTo>
                  <a:pt x="0" y="0"/>
                </a:moveTo>
                <a:lnTo>
                  <a:pt x="6935834" y="0"/>
                </a:lnTo>
                <a:lnTo>
                  <a:pt x="6935834" y="8108779"/>
                </a:lnTo>
                <a:lnTo>
                  <a:pt x="0" y="810877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82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881313" y="798453"/>
            <a:ext cx="14525374" cy="10439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679"/>
              </a:lnSpc>
            </a:pPr>
            <a:r>
              <a:rPr lang="en-US" sz="7999" spc="-767">
                <a:solidFill>
                  <a:srgbClr val="156669"/>
                </a:solidFill>
                <a:latin typeface="Public Sans"/>
                <a:ea typeface="Public Sans"/>
                <a:cs typeface="Public Sans"/>
                <a:sym typeface="Public Sans"/>
              </a:rPr>
              <a:t>Arquitetura  e  Modelagem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91284" y="2594695"/>
            <a:ext cx="8726000" cy="67945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619"/>
              </a:lnSpc>
            </a:pPr>
            <a:r>
              <a:rPr lang="en-US" sz="3299" b="true">
                <a:solidFill>
                  <a:srgbClr val="156669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Padrão MVC:</a:t>
            </a:r>
          </a:p>
          <a:p>
            <a:pPr algn="just" marL="690872" indent="-345436" lvl="1">
              <a:lnSpc>
                <a:spcPts val="4479"/>
              </a:lnSpc>
              <a:spcBef>
                <a:spcPct val="0"/>
              </a:spcBef>
              <a:buFont typeface="Arial"/>
              <a:buChar char="•"/>
            </a:pPr>
            <a:r>
              <a:rPr lang="en-US" sz="3199">
                <a:solidFill>
                  <a:srgbClr val="156669"/>
                </a:solidFill>
                <a:latin typeface="Public Sans"/>
                <a:ea typeface="Public Sans"/>
                <a:cs typeface="Public Sans"/>
                <a:sym typeface="Public Sans"/>
              </a:rPr>
              <a:t>Mod</a:t>
            </a:r>
            <a:r>
              <a:rPr lang="en-US" sz="3199">
                <a:solidFill>
                  <a:srgbClr val="156669"/>
                </a:solidFill>
                <a:latin typeface="Public Sans"/>
                <a:ea typeface="Public Sans"/>
                <a:cs typeface="Public Sans"/>
                <a:sym typeface="Public Sans"/>
              </a:rPr>
              <a:t>el: DAOs e Entidades (Java).</a:t>
            </a:r>
          </a:p>
          <a:p>
            <a:pPr algn="just" marL="690872" indent="-345436" lvl="1">
              <a:lnSpc>
                <a:spcPts val="4479"/>
              </a:lnSpc>
              <a:spcBef>
                <a:spcPct val="0"/>
              </a:spcBef>
              <a:buFont typeface="Arial"/>
              <a:buChar char="•"/>
            </a:pPr>
            <a:r>
              <a:rPr lang="en-US" sz="3199">
                <a:solidFill>
                  <a:srgbClr val="156669"/>
                </a:solidFill>
                <a:latin typeface="Public Sans"/>
                <a:ea typeface="Public Sans"/>
                <a:cs typeface="Public Sans"/>
                <a:sym typeface="Public Sans"/>
              </a:rPr>
              <a:t>View: Frontend Web (JS).</a:t>
            </a:r>
          </a:p>
          <a:p>
            <a:pPr algn="just" marL="690872" indent="-345436" lvl="1">
              <a:lnSpc>
                <a:spcPts val="4479"/>
              </a:lnSpc>
              <a:spcBef>
                <a:spcPct val="0"/>
              </a:spcBef>
              <a:buFont typeface="Arial"/>
              <a:buChar char="•"/>
            </a:pPr>
            <a:r>
              <a:rPr lang="en-US" sz="3199">
                <a:solidFill>
                  <a:srgbClr val="156669"/>
                </a:solidFill>
                <a:latin typeface="Public Sans"/>
                <a:ea typeface="Public Sans"/>
                <a:cs typeface="Public Sans"/>
                <a:sym typeface="Public Sans"/>
              </a:rPr>
              <a:t>Controller: API REST (Spring Boot).</a:t>
            </a:r>
          </a:p>
          <a:p>
            <a:pPr algn="just">
              <a:lnSpc>
                <a:spcPts val="4619"/>
              </a:lnSpc>
              <a:spcBef>
                <a:spcPct val="0"/>
              </a:spcBef>
            </a:pPr>
          </a:p>
          <a:p>
            <a:pPr algn="just">
              <a:lnSpc>
                <a:spcPts val="4619"/>
              </a:lnSpc>
              <a:spcBef>
                <a:spcPct val="0"/>
              </a:spcBef>
            </a:pPr>
            <a:r>
              <a:rPr lang="en-US" b="true" sz="3299">
                <a:solidFill>
                  <a:srgbClr val="156669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Modelagem de Dados (3NF):</a:t>
            </a:r>
          </a:p>
          <a:p>
            <a:pPr algn="just" marL="690872" indent="-345436" lvl="1">
              <a:lnSpc>
                <a:spcPts val="4479"/>
              </a:lnSpc>
              <a:buFont typeface="Arial"/>
              <a:buChar char="•"/>
            </a:pPr>
            <a:r>
              <a:rPr lang="en-US" sz="3199">
                <a:solidFill>
                  <a:srgbClr val="156669"/>
                </a:solidFill>
                <a:latin typeface="Public Sans"/>
                <a:ea typeface="Public Sans"/>
                <a:cs typeface="Public Sans"/>
                <a:sym typeface="Public Sans"/>
              </a:rPr>
              <a:t>Autenticação: </a:t>
            </a:r>
            <a:r>
              <a:rPr lang="en-US" sz="3199">
                <a:solidFill>
                  <a:srgbClr val="156669"/>
                </a:solidFill>
                <a:latin typeface="Public Sans"/>
                <a:ea typeface="Public Sans"/>
                <a:cs typeface="Public Sans"/>
                <a:sym typeface="Public Sans"/>
              </a:rPr>
              <a:t>Usuarios + Grupos_Usuarios (Login Centralizado).</a:t>
            </a:r>
          </a:p>
          <a:p>
            <a:pPr algn="just" marL="690872" indent="-345436" lvl="1">
              <a:lnSpc>
                <a:spcPts val="4479"/>
              </a:lnSpc>
              <a:buFont typeface="Arial"/>
              <a:buChar char="•"/>
            </a:pPr>
            <a:r>
              <a:rPr lang="en-US" sz="3199">
                <a:solidFill>
                  <a:srgbClr val="156669"/>
                </a:solidFill>
                <a:latin typeface="Public Sans"/>
                <a:ea typeface="Public Sans"/>
                <a:cs typeface="Public Sans"/>
                <a:sym typeface="Public Sans"/>
              </a:rPr>
              <a:t>Perfis: Paciente, Medico, Administrador.</a:t>
            </a:r>
          </a:p>
          <a:p>
            <a:pPr algn="just" marL="690872" indent="-345436" lvl="1">
              <a:lnSpc>
                <a:spcPts val="4479"/>
              </a:lnSpc>
              <a:buFont typeface="Arial"/>
              <a:buChar char="•"/>
            </a:pPr>
            <a:r>
              <a:rPr lang="en-US" sz="3199">
                <a:solidFill>
                  <a:srgbClr val="156669"/>
                </a:solidFill>
                <a:latin typeface="Public Sans"/>
                <a:ea typeface="Public Sans"/>
                <a:cs typeface="Public Sans"/>
                <a:sym typeface="Public Sans"/>
              </a:rPr>
              <a:t>Saúde: Prescricao ➔ Lembrete, Medicao (Glicemia/Pressão).</a:t>
            </a:r>
          </a:p>
          <a:p>
            <a:pPr algn="just">
              <a:lnSpc>
                <a:spcPts val="4479"/>
              </a:lnSpc>
            </a:pP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B8D2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030927" y="1766008"/>
            <a:ext cx="14226146" cy="8326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620"/>
              </a:lnSpc>
            </a:pPr>
            <a:r>
              <a:rPr lang="en-US" b="true" sz="3300">
                <a:solidFill>
                  <a:srgbClr val="156669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1. Se</a:t>
            </a:r>
            <a:r>
              <a:rPr lang="en-US" b="true" sz="3300">
                <a:solidFill>
                  <a:srgbClr val="156669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gurança e Aces</a:t>
            </a:r>
            <a:r>
              <a:rPr lang="en-US" b="true" sz="3300">
                <a:solidFill>
                  <a:srgbClr val="156669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so (RBAC)</a:t>
            </a:r>
          </a:p>
          <a:p>
            <a:pPr algn="just" marL="669291" indent="-334646" lvl="1">
              <a:lnSpc>
                <a:spcPts val="4340"/>
              </a:lnSpc>
              <a:buFont typeface="Arial"/>
              <a:buChar char="•"/>
            </a:pPr>
            <a:r>
              <a:rPr lang="en-US" sz="3100">
                <a:solidFill>
                  <a:srgbClr val="156669"/>
                </a:solidFill>
                <a:latin typeface="Public Sans"/>
                <a:ea typeface="Public Sans"/>
                <a:cs typeface="Public Sans"/>
                <a:sym typeface="Public Sans"/>
              </a:rPr>
              <a:t>Login via LoginDAO com JOIN entre usuarios e grupos.</a:t>
            </a:r>
          </a:p>
          <a:p>
            <a:pPr algn="just" marL="669291" indent="-334646" lvl="1">
              <a:lnSpc>
                <a:spcPts val="4340"/>
              </a:lnSpc>
              <a:buFont typeface="Arial"/>
              <a:buChar char="•"/>
            </a:pPr>
            <a:r>
              <a:rPr lang="en-US" sz="3100">
                <a:solidFill>
                  <a:srgbClr val="156669"/>
                </a:solidFill>
                <a:latin typeface="Public Sans"/>
                <a:ea typeface="Public Sans"/>
                <a:cs typeface="Public Sans"/>
                <a:sym typeface="Public Sans"/>
              </a:rPr>
              <a:t>Garante acesso restrito (Médico só vê seus pacientes).</a:t>
            </a:r>
          </a:p>
          <a:p>
            <a:pPr algn="just">
              <a:lnSpc>
                <a:spcPts val="4340"/>
              </a:lnSpc>
            </a:pPr>
          </a:p>
          <a:p>
            <a:pPr algn="just">
              <a:lnSpc>
                <a:spcPts val="4620"/>
              </a:lnSpc>
              <a:spcBef>
                <a:spcPct val="0"/>
              </a:spcBef>
            </a:pPr>
            <a:r>
              <a:rPr lang="en-US" b="true" sz="3300">
                <a:solidFill>
                  <a:srgbClr val="156669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2. Ge</a:t>
            </a:r>
            <a:r>
              <a:rPr lang="en-US" b="true" sz="3300">
                <a:solidFill>
                  <a:srgbClr val="156669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ração de IDs (Functions)</a:t>
            </a:r>
          </a:p>
          <a:p>
            <a:pPr algn="just" marL="669291" indent="-334646" lvl="1">
              <a:lnSpc>
                <a:spcPts val="4340"/>
              </a:lnSpc>
              <a:buFont typeface="Arial"/>
              <a:buChar char="•"/>
            </a:pPr>
            <a:r>
              <a:rPr lang="en-US" sz="3100">
                <a:solidFill>
                  <a:srgbClr val="156669"/>
                </a:solidFill>
                <a:latin typeface="Public Sans"/>
                <a:ea typeface="Public Sans"/>
                <a:cs typeface="Public Sans"/>
                <a:sym typeface="Public Sans"/>
              </a:rPr>
              <a:t>F</a:t>
            </a:r>
            <a:r>
              <a:rPr lang="en-US" sz="3100">
                <a:solidFill>
                  <a:srgbClr val="156669"/>
                </a:solidFill>
                <a:latin typeface="Public Sans"/>
                <a:ea typeface="Public Sans"/>
                <a:cs typeface="Public Sans"/>
                <a:sym typeface="Public Sans"/>
              </a:rPr>
              <a:t>unção proximo_id() para controle total dos IDs de Usuarios e Pac</a:t>
            </a:r>
            <a:r>
              <a:rPr lang="en-US" sz="3100">
                <a:solidFill>
                  <a:srgbClr val="156669"/>
                </a:solidFill>
                <a:latin typeface="Public Sans"/>
                <a:ea typeface="Public Sans"/>
                <a:cs typeface="Public Sans"/>
                <a:sym typeface="Public Sans"/>
              </a:rPr>
              <a:t>ientes (s</a:t>
            </a:r>
            <a:r>
              <a:rPr lang="en-US" sz="3100">
                <a:solidFill>
                  <a:srgbClr val="156669"/>
                </a:solidFill>
                <a:latin typeface="Public Sans"/>
                <a:ea typeface="Public Sans"/>
                <a:cs typeface="Public Sans"/>
                <a:sym typeface="Public Sans"/>
              </a:rPr>
              <a:t>ubstituindo AUTO_INCREMENT nestes casos).</a:t>
            </a:r>
          </a:p>
          <a:p>
            <a:pPr algn="just">
              <a:lnSpc>
                <a:spcPts val="4340"/>
              </a:lnSpc>
            </a:pPr>
          </a:p>
          <a:p>
            <a:pPr algn="just">
              <a:lnSpc>
                <a:spcPts val="4620"/>
              </a:lnSpc>
            </a:pPr>
            <a:r>
              <a:rPr lang="en-US" b="true" sz="3300">
                <a:solidFill>
                  <a:srgbClr val="156669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3. Regras de Negócio (Triggers e Procedures)</a:t>
            </a:r>
          </a:p>
          <a:p>
            <a:pPr algn="just" marL="669291" indent="-334646" lvl="1">
              <a:lnSpc>
                <a:spcPts val="4340"/>
              </a:lnSpc>
              <a:buFont typeface="Arial"/>
              <a:buChar char="•"/>
            </a:pPr>
            <a:r>
              <a:rPr lang="en-US" sz="3100">
                <a:solidFill>
                  <a:srgbClr val="156669"/>
                </a:solidFill>
                <a:latin typeface="Public Sans"/>
                <a:ea typeface="Public Sans"/>
                <a:cs typeface="Public Sans"/>
                <a:sym typeface="Public Sans"/>
              </a:rPr>
              <a:t>Trigge</a:t>
            </a:r>
            <a:r>
              <a:rPr lang="en-US" sz="3100">
                <a:solidFill>
                  <a:srgbClr val="156669"/>
                </a:solidFill>
                <a:latin typeface="Public Sans"/>
                <a:ea typeface="Public Sans"/>
                <a:cs typeface="Public Sans"/>
                <a:sym typeface="Public Sans"/>
              </a:rPr>
              <a:t>r: Bloqueia datas de prescrição n</a:t>
            </a:r>
            <a:r>
              <a:rPr lang="en-US" sz="3100">
                <a:solidFill>
                  <a:srgbClr val="156669"/>
                </a:solidFill>
                <a:latin typeface="Public Sans"/>
                <a:ea typeface="Public Sans"/>
                <a:cs typeface="Public Sans"/>
                <a:sym typeface="Public Sans"/>
              </a:rPr>
              <a:t>o passado.</a:t>
            </a:r>
          </a:p>
          <a:p>
            <a:pPr algn="just" marL="669291" indent="-334646" lvl="1">
              <a:lnSpc>
                <a:spcPts val="4340"/>
              </a:lnSpc>
              <a:buFont typeface="Arial"/>
              <a:buChar char="•"/>
            </a:pPr>
            <a:r>
              <a:rPr lang="en-US" sz="3100">
                <a:solidFill>
                  <a:srgbClr val="156669"/>
                </a:solidFill>
                <a:latin typeface="Public Sans"/>
                <a:ea typeface="Public Sans"/>
                <a:cs typeface="Public Sans"/>
                <a:sym typeface="Public Sans"/>
              </a:rPr>
              <a:t>Procedure: Garante transações seguras ao criar Paciente + Usuário.</a:t>
            </a:r>
          </a:p>
          <a:p>
            <a:pPr algn="just">
              <a:lnSpc>
                <a:spcPts val="4340"/>
              </a:lnSpc>
            </a:pPr>
          </a:p>
          <a:p>
            <a:pPr algn="just">
              <a:lnSpc>
                <a:spcPts val="4620"/>
              </a:lnSpc>
            </a:pPr>
            <a:r>
              <a:rPr lang="en-US" b="true" sz="3300">
                <a:solidFill>
                  <a:srgbClr val="156669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4.</a:t>
            </a:r>
            <a:r>
              <a:rPr lang="en-US" b="true" sz="3300">
                <a:solidFill>
                  <a:srgbClr val="156669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Ot</a:t>
            </a:r>
            <a:r>
              <a:rPr lang="en-US" b="true" sz="3300">
                <a:solidFill>
                  <a:srgbClr val="156669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imização (Views)</a:t>
            </a:r>
          </a:p>
          <a:p>
            <a:pPr algn="just" marL="669291" indent="-334646" lvl="1">
              <a:lnSpc>
                <a:spcPts val="4340"/>
              </a:lnSpc>
              <a:buFont typeface="Arial"/>
              <a:buChar char="•"/>
            </a:pPr>
            <a:r>
              <a:rPr lang="en-US" sz="3100">
                <a:solidFill>
                  <a:srgbClr val="156669"/>
                </a:solidFill>
                <a:latin typeface="Public Sans"/>
                <a:ea typeface="Public Sans"/>
                <a:cs typeface="Public Sans"/>
                <a:sym typeface="Public Sans"/>
              </a:rPr>
              <a:t>vw_lembretes_hoje para consultas rápidas na API.</a:t>
            </a:r>
          </a:p>
          <a:p>
            <a:pPr algn="just">
              <a:lnSpc>
                <a:spcPts val="4620"/>
              </a:lnSpc>
            </a:pP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15696986" y="8125422"/>
            <a:ext cx="2125811" cy="1967341"/>
          </a:xfrm>
          <a:custGeom>
            <a:avLst/>
            <a:gdLst/>
            <a:ahLst/>
            <a:cxnLst/>
            <a:rect r="r" b="b" t="t" l="l"/>
            <a:pathLst>
              <a:path h="1967341" w="2125811">
                <a:moveTo>
                  <a:pt x="0" y="0"/>
                </a:moveTo>
                <a:lnTo>
                  <a:pt x="2125811" y="0"/>
                </a:lnTo>
                <a:lnTo>
                  <a:pt x="2125811" y="1967341"/>
                </a:lnTo>
                <a:lnTo>
                  <a:pt x="0" y="196734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881313" y="336193"/>
            <a:ext cx="14525374" cy="10439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679"/>
              </a:lnSpc>
            </a:pPr>
            <a:r>
              <a:rPr lang="en-US" sz="7999" spc="-767">
                <a:solidFill>
                  <a:srgbClr val="156669"/>
                </a:solidFill>
                <a:latin typeface="Public Sans"/>
                <a:ea typeface="Public Sans"/>
                <a:cs typeface="Public Sans"/>
                <a:sym typeface="Public Sans"/>
              </a:rPr>
              <a:t>Recursos  Implementados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>
          <a:srgbClr val="B8D2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731212" y="1028700"/>
            <a:ext cx="13137345" cy="1362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799"/>
              </a:lnSpc>
            </a:pPr>
            <a:r>
              <a:rPr lang="en-US" sz="8999" spc="-674">
                <a:solidFill>
                  <a:srgbClr val="156669"/>
                </a:solidFill>
                <a:latin typeface="Public Sans"/>
                <a:ea typeface="Public Sans"/>
                <a:cs typeface="Public Sans"/>
                <a:sym typeface="Public Sans"/>
              </a:rPr>
              <a:t>Demonstração da aplicação: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F8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881313" y="543882"/>
            <a:ext cx="14525374" cy="11696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639"/>
              </a:lnSpc>
            </a:pPr>
            <a:r>
              <a:rPr lang="en-US" sz="8999" spc="-629">
                <a:solidFill>
                  <a:srgbClr val="156669"/>
                </a:solidFill>
                <a:latin typeface="Public Sans"/>
                <a:ea typeface="Public Sans"/>
                <a:cs typeface="Public Sans"/>
                <a:sym typeface="Public Sans"/>
              </a:rPr>
              <a:t>Conclusão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2796451" y="2150939"/>
            <a:ext cx="12695098" cy="5985122"/>
            <a:chOff x="0" y="0"/>
            <a:chExt cx="5350472" cy="252248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350472" cy="2522488"/>
            </a:xfrm>
            <a:custGeom>
              <a:avLst/>
              <a:gdLst/>
              <a:ahLst/>
              <a:cxnLst/>
              <a:rect r="r" b="b" t="t" l="l"/>
              <a:pathLst>
                <a:path h="2522488" w="5350472">
                  <a:moveTo>
                    <a:pt x="9148" y="0"/>
                  </a:moveTo>
                  <a:lnTo>
                    <a:pt x="5341325" y="0"/>
                  </a:lnTo>
                  <a:cubicBezTo>
                    <a:pt x="5343751" y="0"/>
                    <a:pt x="5346078" y="964"/>
                    <a:pt x="5347793" y="2679"/>
                  </a:cubicBezTo>
                  <a:cubicBezTo>
                    <a:pt x="5349508" y="4395"/>
                    <a:pt x="5350472" y="6721"/>
                    <a:pt x="5350472" y="9148"/>
                  </a:cubicBezTo>
                  <a:lnTo>
                    <a:pt x="5350472" y="2513340"/>
                  </a:lnTo>
                  <a:cubicBezTo>
                    <a:pt x="5350472" y="2515766"/>
                    <a:pt x="5349508" y="2518093"/>
                    <a:pt x="5347793" y="2519808"/>
                  </a:cubicBezTo>
                  <a:cubicBezTo>
                    <a:pt x="5346078" y="2521524"/>
                    <a:pt x="5343751" y="2522488"/>
                    <a:pt x="5341325" y="2522488"/>
                  </a:cubicBezTo>
                  <a:lnTo>
                    <a:pt x="9148" y="2522488"/>
                  </a:lnTo>
                  <a:cubicBezTo>
                    <a:pt x="6721" y="2522488"/>
                    <a:pt x="4395" y="2521524"/>
                    <a:pt x="2679" y="2519808"/>
                  </a:cubicBezTo>
                  <a:cubicBezTo>
                    <a:pt x="964" y="2518093"/>
                    <a:pt x="0" y="2515766"/>
                    <a:pt x="0" y="2513340"/>
                  </a:cubicBezTo>
                  <a:lnTo>
                    <a:pt x="0" y="9148"/>
                  </a:lnTo>
                  <a:cubicBezTo>
                    <a:pt x="0" y="6721"/>
                    <a:pt x="964" y="4395"/>
                    <a:pt x="2679" y="2679"/>
                  </a:cubicBezTo>
                  <a:cubicBezTo>
                    <a:pt x="4395" y="964"/>
                    <a:pt x="6721" y="0"/>
                    <a:pt x="9148" y="0"/>
                  </a:cubicBezTo>
                  <a:close/>
                </a:path>
              </a:pathLst>
            </a:custGeom>
            <a:solidFill>
              <a:srgbClr val="B8D2E4"/>
            </a:solidFill>
            <a:ln cap="sq">
              <a:noFill/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5350472" cy="25605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4074967" y="3479717"/>
            <a:ext cx="10138066" cy="32513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174"/>
              </a:lnSpc>
              <a:spcBef>
                <a:spcPct val="0"/>
              </a:spcBef>
            </a:pPr>
            <a:r>
              <a:rPr lang="en-US" b="true" sz="3696" spc="-221">
                <a:solidFill>
                  <a:srgbClr val="156669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O SGM entrega uma plataforma Segura e Escalável.</a:t>
            </a:r>
          </a:p>
          <a:p>
            <a:pPr algn="just">
              <a:lnSpc>
                <a:spcPts val="5174"/>
              </a:lnSpc>
              <a:spcBef>
                <a:spcPct val="0"/>
              </a:spcBef>
            </a:pPr>
          </a:p>
          <a:p>
            <a:pPr algn="just" marL="797981" indent="-398991" lvl="1">
              <a:lnSpc>
                <a:spcPts val="5174"/>
              </a:lnSpc>
              <a:buFont typeface="Arial"/>
              <a:buChar char="•"/>
            </a:pPr>
            <a:r>
              <a:rPr lang="en-US" sz="3696" spc="-221">
                <a:solidFill>
                  <a:srgbClr val="156669"/>
                </a:solidFill>
                <a:latin typeface="Public Sans"/>
                <a:ea typeface="Public Sans"/>
                <a:cs typeface="Public Sans"/>
                <a:sym typeface="Public Sans"/>
              </a:rPr>
              <a:t>MySQL garante a integridade dos dados clínicos.</a:t>
            </a:r>
          </a:p>
          <a:p>
            <a:pPr algn="just" marL="797981" indent="-398991" lvl="1">
              <a:lnSpc>
                <a:spcPts val="5174"/>
              </a:lnSpc>
              <a:buFont typeface="Arial"/>
              <a:buChar char="•"/>
            </a:pPr>
            <a:r>
              <a:rPr lang="en-US" sz="3696" spc="-221">
                <a:solidFill>
                  <a:srgbClr val="156669"/>
                </a:solidFill>
                <a:latin typeface="Public Sans"/>
                <a:ea typeface="Public Sans"/>
                <a:cs typeface="Public Sans"/>
                <a:sym typeface="Public Sans"/>
              </a:rPr>
              <a:t>MongoDB garante a performance da auditoria.</a:t>
            </a:r>
          </a:p>
          <a:p>
            <a:pPr algn="just" marL="797981" indent="-398991" lvl="1">
              <a:lnSpc>
                <a:spcPts val="5174"/>
              </a:lnSpc>
              <a:buFont typeface="Arial"/>
              <a:buChar char="•"/>
            </a:pPr>
            <a:r>
              <a:rPr lang="en-US" sz="3696" spc="-221">
                <a:solidFill>
                  <a:srgbClr val="156669"/>
                </a:solidFill>
                <a:latin typeface="Public Sans"/>
                <a:ea typeface="Public Sans"/>
                <a:cs typeface="Public Sans"/>
                <a:sym typeface="Public Sans"/>
              </a:rPr>
              <a:t>Spring Boot conecta tudo com eficiência.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683934" y="7080434"/>
            <a:ext cx="2920133" cy="8305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719"/>
              </a:lnSpc>
              <a:spcBef>
                <a:spcPct val="0"/>
              </a:spcBef>
            </a:pPr>
            <a:r>
              <a:rPr lang="en-US" b="true" sz="4799" spc="-460">
                <a:solidFill>
                  <a:srgbClr val="156669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Obrigado!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DAG3k85SkoQ</dc:identifier>
  <dcterms:modified xsi:type="dcterms:W3CDTF">2011-08-01T06:04:30Z</dcterms:modified>
  <cp:revision>1</cp:revision>
  <dc:title>SGM</dc:title>
</cp:coreProperties>
</file>